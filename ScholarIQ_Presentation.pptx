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OVAL">
            <a:avLst/>
          </a:prstGeom>
          <a:solidFill>
            <a:srgbClr val="1E3A8A">
              <a:alpha val="2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OVAL">
            <a:avLst/>
          </a:prstGeom>
          <a:solidFill>
            <a:srgbClr val="312E81">
              <a:alpha val="22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77640" y="201168"/>
            <a:ext cx="1188720" cy="1188720"/>
          </a:xfrm>
          <a:prstGeom prst="ROUNDED_RECTANGLE">
            <a:avLst>
              <a:gd name="adj" fmla="val 15385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77640" y="219456"/>
            <a:ext cx="1188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🎓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</a:t>
            </a:r>
            <a:pPr algn="ctr" indent="0" marL="0">
              <a:buNone/>
            </a:pPr>
            <a:r>
              <a:rPr lang="en-US" sz="70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First AI-Powered Scholarship &amp; Education Ecosystem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2194560" cy="530352"/>
          </a:xfrm>
          <a:prstGeom prst="ROUNDED_RECTANGLE">
            <a:avLst>
              <a:gd name="adj" fmla="val 43103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0632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AI Scholarship Finder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3063240"/>
            <a:ext cx="2194560" cy="530352"/>
          </a:xfrm>
          <a:prstGeom prst="ROUNDED_RECTANGLE">
            <a:avLst>
              <a:gd name="adj" fmla="val 43103"/>
            </a:avLst>
          </a:prstGeom>
          <a:solidFill>
            <a:srgbClr val="312E81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30632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Test Prep Marketplace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3063240"/>
            <a:ext cx="2194560" cy="530352"/>
          </a:xfrm>
          <a:prstGeom prst="ROUNDED_RECTANGLE">
            <a:avLst>
              <a:gd name="adj" fmla="val 43103"/>
            </a:avLst>
          </a:prstGeom>
          <a:solidFill>
            <a:srgbClr val="064E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0632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Visa Guidance 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3749040"/>
            <a:ext cx="4572000" cy="0"/>
          </a:xfrm>
          <a:prstGeom prst="LINE">
            <a:avLst/>
          </a:prstGeom>
          <a:noFill/>
          <a:ln w="19050">
            <a:solidFill>
              <a:srgbClr val="F4C4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Live: scholarship.broadsolutiontech.com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70832"/>
            <a:ext cx="1993392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3708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15768" y="4370832"/>
            <a:ext cx="1993392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15768" y="43708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64608" y="4370832"/>
            <a:ext cx="1993392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43708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13448" y="4370832"/>
            <a:ext cx="1993392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13448" y="43708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· Stockholm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Pakistani student faces these four barriers every single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4096512" cy="1719072"/>
          </a:xfrm>
          <a:prstGeom prst="ROUNDED_RECTANGLE">
            <a:avLst>
              <a:gd name="adj" fmla="val 6383"/>
            </a:avLst>
          </a:prstGeom>
          <a:solidFill>
            <a:srgbClr val="2A1010"/>
          </a:solidFill>
          <a:ln w="10160">
            <a:solidFill>
              <a:srgbClr val="FC818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Centralized Scholarship Platform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12064" y="166420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manually search 100+ websites with zero AI filtering or personalized matching — weeks of wasted effort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15568"/>
            <a:ext cx="4096512" cy="1719072"/>
          </a:xfrm>
          <a:prstGeom prst="ROUNDED_RECTANGLE">
            <a:avLst>
              <a:gd name="adj" fmla="val 6383"/>
            </a:avLst>
          </a:prstGeom>
          <a:solidFill>
            <a:srgbClr val="2A1010"/>
          </a:solidFill>
          <a:ln w="10160">
            <a:solidFill>
              <a:srgbClr val="FC818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Verified Tutor Directory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28032" y="166420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trusted platform to find qualified IELTS / GRE / TOEFL tutors in Pakistan with verified credentials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2999232"/>
            <a:ext cx="4096512" cy="1719072"/>
          </a:xfrm>
          <a:prstGeom prst="ROUNDED_RECTANGLE">
            <a:avLst>
              <a:gd name="adj" fmla="val 6383"/>
            </a:avLst>
          </a:prstGeom>
          <a:solidFill>
            <a:srgbClr val="2A1010"/>
          </a:solidFill>
          <a:ln w="10160">
            <a:solidFill>
              <a:srgbClr val="FC818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Students Miss Deadlines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2064" y="354787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deadline tracker, no reminders, no application timeline — students lose scholarship opportunities every year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999232"/>
            <a:ext cx="4096512" cy="1719072"/>
          </a:xfrm>
          <a:prstGeom prst="ROUNDED_RECTANGLE">
            <a:avLst>
              <a:gd name="adj" fmla="val 6383"/>
            </a:avLst>
          </a:prstGeom>
          <a:solidFill>
            <a:srgbClr val="2A1010"/>
          </a:solidFill>
          <a:ln w="10160">
            <a:solidFill>
              <a:srgbClr val="FC818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Visa Guidance is Broken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28032" y="354787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guidance is scattered, expensive, and unreliable — students pay Rs 20,000+ for basic document checklists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ScholarIQ eliminates every barrier with AI and intelligent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4096512" cy="1719072"/>
          </a:xfrm>
          <a:prstGeom prst="ROUNDED_RECTANGLE">
            <a:avLst>
              <a:gd name="adj" fmla="val 6383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Scholarship Matcher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12064" y="166420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Profile-based matching on CGPA, degree, country, IELTS score — AI finds the best fit instantly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15568"/>
            <a:ext cx="4096512" cy="1719072"/>
          </a:xfrm>
          <a:prstGeom prst="ROUNDED_RECTANGLE">
            <a:avLst>
              <a:gd name="adj" fmla="val 6383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Verified Teacher Marketplace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28032" y="166420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qualified tutors, check reviews &amp; ratings, enroll &amp; pay via JazzCash / EasyPaisa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2999232"/>
            <a:ext cx="4096512" cy="1719072"/>
          </a:xfrm>
          <a:prstGeom prst="ROUNDED_RECTANGLE">
            <a:avLst>
              <a:gd name="adj" fmla="val 6383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 Deadline Tracker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2064" y="354787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timeline + automated email reminders at 30, 7, and 1 day before each scholarship deadline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999232"/>
            <a:ext cx="4096512" cy="1719072"/>
          </a:xfrm>
          <a:prstGeom prst="ROUNDED_RECTANGLE">
            <a:avLst>
              <a:gd name="adj" fmla="val 6383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Visa Guidance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28032" y="354787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generates personalized document checklist + travel guides + consultant directory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Powerful Portals.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students, teachers, and admins — each with full AI integration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" y="1115568"/>
            <a:ext cx="2798064" cy="3858768"/>
          </a:xfrm>
          <a:prstGeom prst="ROUNDED_RECTANGLE">
            <a:avLst>
              <a:gd name="adj" fmla="val 3922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8872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" y="16916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" y="2084832"/>
            <a:ext cx="2395728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762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AI-powered scholarship search + matching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Apply, track &amp; manage applications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Enroll in IELTS / GRE / TOEFL courses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027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Chatbot — 24/7 scholarship assistant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SOP Writer — AI-generated essays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University Matcher &amp; Visa Guidance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36976" y="1115568"/>
            <a:ext cx="2798064" cy="3858768"/>
          </a:xfrm>
          <a:prstGeom prst="ROUNDED_RECTANGLE">
            <a:avLst>
              <a:gd name="adj" fmla="val 3922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28416" y="118872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👨‍🏫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28416" y="16916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PORTAL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38144" y="2084832"/>
            <a:ext cx="2395728" cy="0"/>
          </a:xfrm>
          <a:prstGeom prst="LINE">
            <a:avLst/>
          </a:prstGeom>
          <a:noFill/>
          <a:ln w="635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1762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Register &amp; get admin-verified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01568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Create courses with video lessons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01568" y="31272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Schedule live Zoom/Meet classes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01568" y="36027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students &amp; track progress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01568" y="40782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Accept JazzCash / EasyPaisa payments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01568" y="4553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student ratings &amp; reviews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1115568"/>
            <a:ext cx="2798064" cy="3858768"/>
          </a:xfrm>
          <a:prstGeom prst="ROUNDED_RECTANGLE">
            <a:avLst>
              <a:gd name="adj" fmla="val 3922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72784" y="118872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72784" y="16916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82512" y="2084832"/>
            <a:ext cx="2395728" cy="0"/>
          </a:xfrm>
          <a:prstGeom prst="LINE">
            <a:avLst/>
          </a:prstGeom>
          <a:noFill/>
          <a:ln w="635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21762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platform control &amp; analytics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45936" y="26517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Auto-Updater — every 4 days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45936" y="31272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Teacher approval workflow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45936" y="36027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500+ scholarship management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45936" y="40782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 Fraud Detection system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45936" y="4553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API health monitor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Needs — In One Place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6868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🔍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85039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Matcher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106424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Profile-based: CGPA, major, country, test scores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426464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72184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1453896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(MiniLM AI)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70992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 search — finds beyond keywords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075688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Applications Tracker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231343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status: Applied → Interview → Awarded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67919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266090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2916936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milestone tracker for every scholarship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36976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282696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🔖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3264408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Scholarships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3520440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&amp; revisit — never lose a scholarship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88620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📚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386791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Marketplace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4123944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IELTS/TOEFL/GRE courses from expert teachers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443984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489704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⭐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2960" y="4471416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Profiles &amp; Reviews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472744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qualifications, reviews before enrolling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822960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86868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🎥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120640" y="85039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Booking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20640" y="1106424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sessions via Zoom / Google Meet / Teams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1426464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1472184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120640" y="1453896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(GPT-4o-mini)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120640" y="170992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assistant — supports PDF &amp; image uploads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029968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63440" y="2075688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✍️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120640" y="2057400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Writer (AI-Powered)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120640" y="2313432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full Statement of Purpose in seconds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2633472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63440" y="267919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🏫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5120640" y="266090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Matcher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120640" y="2916936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best-fit universities worldwide by profile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3236976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663440" y="3282696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5120640" y="3264408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Guidance AI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120640" y="3520440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checklist + travel guide + consultants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0" y="3840480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663440" y="388620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🔔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5120640" y="386791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Notifications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120640" y="4123944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deadline reminders: 30d / 7d / 1d before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0" y="4443984"/>
            <a:ext cx="4187952" cy="530352"/>
          </a:xfrm>
          <a:prstGeom prst="ROUNDED_RECTANGLE">
            <a:avLst>
              <a:gd name="adj" fmla="val 2069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663440" y="4489704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5120640" y="4471416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120640" y="4727448"/>
            <a:ext cx="3529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progress, analytics — everything at a glance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Teaching Business in One Dashboard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92608" y="822960"/>
            <a:ext cx="2798064" cy="4187952"/>
          </a:xfrm>
          <a:prstGeom prst="ROUNDED_RECTANGLE">
            <a:avLst>
              <a:gd name="adj" fmla="val 3922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20624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Registration &amp; Verification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20624" y="1353312"/>
            <a:ext cx="2560320" cy="0"/>
          </a:xfrm>
          <a:prstGeom prst="LINE">
            <a:avLst/>
          </a:prstGeom>
          <a:noFill/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4475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Bio, specializations, experience, qualifications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192024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Profile picture + LinkedIn + CV file upload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239572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manually reviews each application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2871216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Approved email sent automatically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" y="334670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unlocks only after approval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36976" y="822960"/>
            <a:ext cx="2798064" cy="4187952"/>
          </a:xfrm>
          <a:prstGeom prst="ROUNDED_RECTANGLE">
            <a:avLst>
              <a:gd name="adj" fmla="val 3922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64992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Course Builder (8 Test Types)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64992" y="1353312"/>
            <a:ext cx="2560320" cy="0"/>
          </a:xfrm>
          <a:prstGeom prst="LINE">
            <a:avLst/>
          </a:prstGeom>
          <a:noFill/>
          <a:ln w="635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44475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IELTS, TOEFL, GRE, GMAT, PTE, SAT, Duolingo, TestDaF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64992" y="192024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 course price in PKR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64992" y="239572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video lessons + free preview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64992" y="2871216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MCQ quizzes with difficulty levels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64992" y="334670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Quiz Generator built-in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4992" y="382219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Schedule live Zoom / Meet / Teams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822960"/>
            <a:ext cx="2798064" cy="4187952"/>
          </a:xfrm>
          <a:prstGeom prst="ROUNDED_RECTANGLE">
            <a:avLst>
              <a:gd name="adj" fmla="val 3922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8961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Student Management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1353312"/>
            <a:ext cx="2560320" cy="0"/>
          </a:xfrm>
          <a:prstGeom prst="LINE">
            <a:avLst/>
          </a:prstGeom>
          <a:noFill/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44475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enrolled students &amp; progress 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 lesson completion per student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39572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Quiz scores &amp; attempt history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2871216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ratings &amp; written reviews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3346704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Reply to reviews publicly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3822192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Pending payment screenshots to review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7731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34440" y="4773168"/>
            <a:ext cx="896112" cy="292608"/>
          </a:xfrm>
          <a:prstGeom prst="ROUNDED_RECTANGLE">
            <a:avLst>
              <a:gd name="adj" fmla="val 43750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234440" y="47731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12848" y="4773168"/>
            <a:ext cx="896112" cy="292608"/>
          </a:xfrm>
          <a:prstGeom prst="ROUNDED_RECTANGLE">
            <a:avLst>
              <a:gd name="adj" fmla="val 43750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12848" y="47731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TOEFL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91256" y="4773168"/>
            <a:ext cx="896112" cy="292608"/>
          </a:xfrm>
          <a:prstGeom prst="ROUNDED_RECTANGLE">
            <a:avLst>
              <a:gd name="adj" fmla="val 43750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91256" y="47731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69664" y="4773168"/>
            <a:ext cx="896112" cy="292608"/>
          </a:xfrm>
          <a:prstGeom prst="ROUNDED_RECTANGLE">
            <a:avLst>
              <a:gd name="adj" fmla="val 43750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69664" y="47731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48072" y="4773168"/>
            <a:ext cx="896112" cy="292608"/>
          </a:xfrm>
          <a:prstGeom prst="ROUNDED_RECTANGLE">
            <a:avLst>
              <a:gd name="adj" fmla="val 43750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148072" y="47731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4773168"/>
            <a:ext cx="896112" cy="292608"/>
          </a:xfrm>
          <a:prstGeom prst="ROUNDED_RECTANGLE">
            <a:avLst>
              <a:gd name="adj" fmla="val 43750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26480" y="47731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04888" y="4773168"/>
            <a:ext cx="896112" cy="292608"/>
          </a:xfrm>
          <a:prstGeom prst="ROUNDED_RECTANGLE">
            <a:avLst>
              <a:gd name="adj" fmla="val 43750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04888" y="47731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83296" y="4773168"/>
            <a:ext cx="896112" cy="292608"/>
          </a:xfrm>
          <a:prstGeom prst="ROUNDED_RECTANGLE">
            <a:avLst>
              <a:gd name="adj" fmla="val 43750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083296" y="477316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TestDaF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Local Payment Flow Built for Pakistan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JazzCash  ·  EasyPaisa  ·  Bank Transfer — No Credit Card Needed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01168" y="1060704"/>
            <a:ext cx="1627632" cy="3639312"/>
          </a:xfrm>
          <a:prstGeom prst="ROUNDED_RECTANGLE">
            <a:avLst>
              <a:gd name="adj" fmla="val 6742"/>
            </a:avLst>
          </a:prstGeom>
          <a:solidFill>
            <a:srgbClr val="1E3A8A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133856"/>
            <a:ext cx="603504" cy="603504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13385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267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SETUP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2651760"/>
            <a:ext cx="1444752" cy="0"/>
          </a:xfrm>
          <a:prstGeom prst="LINE">
            <a:avLst/>
          </a:prstGeom>
          <a:noFill/>
          <a:ln w="508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72491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JazzCash / EasyPaisa number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163824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Bank: title, account, bank 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602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payment instructions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041648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methods supported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65376" y="27432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C44E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84248" y="1060704"/>
            <a:ext cx="1627632" cy="3639312"/>
          </a:xfrm>
          <a:prstGeom prst="ROUNDED_RECTANGLE">
            <a:avLst>
              <a:gd name="adj" fmla="val 6742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1133856"/>
            <a:ext cx="603504" cy="603504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17" name="Text 15"/>
          <p:cNvSpPr/>
          <p:nvPr/>
        </p:nvSpPr>
        <p:spPr>
          <a:xfrm>
            <a:off x="2496312" y="113385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75688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57400" y="2267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LINK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75688" y="2651760"/>
            <a:ext cx="1444752" cy="0"/>
          </a:xfrm>
          <a:prstGeom prst="LINE">
            <a:avLst/>
          </a:prstGeom>
          <a:noFill/>
          <a:ln w="508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272491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selects which methods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57400" y="3163824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each specific course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3602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sees enabled methods only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4041648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mix: e.g. JazzCash + Bank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48456" y="27432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C44E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67328" y="1060704"/>
            <a:ext cx="1627632" cy="3639312"/>
          </a:xfrm>
          <a:prstGeom prst="ROUNDED_RECTANGLE">
            <a:avLst>
              <a:gd name="adj" fmla="val 6742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79392" y="1133856"/>
            <a:ext cx="603504" cy="603504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28" name="Text 26"/>
          <p:cNvSpPr/>
          <p:nvPr/>
        </p:nvSpPr>
        <p:spPr>
          <a:xfrm>
            <a:off x="4279392" y="113385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58768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840480" y="2267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PAYS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58768" y="2651760"/>
            <a:ext cx="1444752" cy="0"/>
          </a:xfrm>
          <a:prstGeom prst="LINE">
            <a:avLst/>
          </a:prstGeom>
          <a:noFill/>
          <a:ln w="508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72491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sees account number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163824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account title in payment modal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3602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money manually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0" y="4041648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transaction reference 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31536" y="27432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C44E"/>
                </a:solidFill>
              </a:rPr>
              <a:t>▶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50408" y="1060704"/>
            <a:ext cx="1627632" cy="3639312"/>
          </a:xfrm>
          <a:prstGeom prst="ROUNDED_RECTANGLE">
            <a:avLst>
              <a:gd name="adj" fmla="val 6742"/>
            </a:avLst>
          </a:prstGeom>
          <a:solidFill>
            <a:srgbClr val="2A1010"/>
          </a:solidFill>
          <a:ln w="10160">
            <a:solidFill>
              <a:srgbClr val="FC818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62472" y="1133856"/>
            <a:ext cx="603504" cy="603504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39" name="Text 37"/>
          <p:cNvSpPr/>
          <p:nvPr/>
        </p:nvSpPr>
        <p:spPr>
          <a:xfrm>
            <a:off x="6062472" y="113385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641848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623560" y="2267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UPLOAD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41848" y="2651760"/>
            <a:ext cx="1444752" cy="0"/>
          </a:xfrm>
          <a:prstGeom prst="LINE">
            <a:avLst/>
          </a:prstGeom>
          <a:noFill/>
          <a:ln w="5080">
            <a:solidFill>
              <a:srgbClr val="FC8181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272491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screenshot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23560" y="3163824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payment (JPEG / PNG)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23560" y="3602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in platform directly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23560" y="4041648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via WhatsApp or email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14616" y="2743200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C44E"/>
                </a:solidFill>
              </a:rPr>
              <a:t>▶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33488" y="1060704"/>
            <a:ext cx="1627632" cy="3639312"/>
          </a:xfrm>
          <a:prstGeom prst="ROUNDED_RECTANGLE">
            <a:avLst>
              <a:gd name="adj" fmla="val 6742"/>
            </a:avLst>
          </a:prstGeom>
          <a:solidFill>
            <a:srgbClr val="064E3B"/>
          </a:solidFill>
          <a:ln w="10160">
            <a:solidFill>
              <a:srgbClr val="6EE7B7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845552" y="1133856"/>
            <a:ext cx="603504" cy="603504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50" name="Text 48"/>
          <p:cNvSpPr/>
          <p:nvPr/>
        </p:nvSpPr>
        <p:spPr>
          <a:xfrm>
            <a:off x="7845552" y="113385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424928" y="1828800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406640" y="226771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VERIFIES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24928" y="2651760"/>
            <a:ext cx="1444752" cy="0"/>
          </a:xfrm>
          <a:prstGeom prst="LINE">
            <a:avLst/>
          </a:prstGeom>
          <a:noFill/>
          <a:ln w="5080">
            <a:solidFill>
              <a:srgbClr val="6EE7B7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272491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views pending payments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06640" y="3163824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screenshot thumbnail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06640" y="3602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instant course access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06640" y="4041648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with reason message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371600" y="4754880"/>
            <a:ext cx="6400800" cy="365760"/>
          </a:xfrm>
          <a:prstGeom prst="ROUNDED_RECTANGLE">
            <a:avLst>
              <a:gd name="adj" fmla="val 50000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37160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Local — No Stripe · No Credit Card · No International Gateway · Built for Pakistan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Platform Control + AI Automation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92608" y="868680"/>
            <a:ext cx="4251960" cy="2011680"/>
          </a:xfrm>
          <a:prstGeom prst="ROUNDED_RECTANGLE">
            <a:avLst>
              <a:gd name="adj" fmla="val 5455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" y="9966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Teacher Management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399032"/>
            <a:ext cx="3931920" cy="0"/>
          </a:xfrm>
          <a:prstGeom prst="LINE">
            <a:avLst/>
          </a:prstGeom>
          <a:noFill/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472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Review teacher applications (bio, CV, qualifications)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912" y="1810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Approve / Reject with automated email notification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all: active + pending + rejected teachers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251960" cy="2011680"/>
          </a:xfrm>
          <a:prstGeom prst="ROUNDED_RECTANGLE">
            <a:avLst>
              <a:gd name="adj" fmla="val 5455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01184" y="99669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Platform Management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01184" y="1399032"/>
            <a:ext cx="3931920" cy="0"/>
          </a:xfrm>
          <a:prstGeom prst="LINE">
            <a:avLst/>
          </a:prstGeom>
          <a:noFill/>
          <a:ln w="635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472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User Management — students &amp; teachers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01184" y="1810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Scholarship CRUD — add, edit, verify, archive 500+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01184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Rule-Based Fraud Gate — regex + keyword heuristics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01184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Staged Review Queue — human approves AI changes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3081528"/>
            <a:ext cx="4251960" cy="2011680"/>
          </a:xfrm>
          <a:prstGeom prst="ROUNDED_RECTANGLE">
            <a:avLst>
              <a:gd name="adj" fmla="val 5455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" y="320954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Automation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38912" y="3611880"/>
            <a:ext cx="3931920" cy="0"/>
          </a:xfrm>
          <a:prstGeom prst="LINE">
            <a:avLst/>
          </a:prstGeom>
          <a:noFill/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685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Auto-Updater — checks scholarships every 4 days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Confidence Scoring before publishing changes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4361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Pipeline Report — full audit log per bot run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47000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Weekly RandomForest model retrain (every Sunday 2AM)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081528"/>
            <a:ext cx="4251960" cy="2011680"/>
          </a:xfrm>
          <a:prstGeom prst="ROUNDED_RECTANGLE">
            <a:avLst>
              <a:gd name="adj" fmla="val 5455"/>
            </a:avLst>
          </a:prstGeom>
          <a:solidFill>
            <a:srgbClr val="1A1108"/>
          </a:solidFill>
          <a:ln w="10160">
            <a:solidFill>
              <a:srgbClr val="FBBF24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01184" y="320954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Intelligence &amp; Monitoring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901184" y="3611880"/>
            <a:ext cx="3931920" cy="0"/>
          </a:xfrm>
          <a:prstGeom prst="LINE">
            <a:avLst/>
          </a:prstGeom>
          <a:noFill/>
          <a:ln w="635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685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AI Chat — query all data in natural language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01184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Health Monitor — live backend status dashboard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01184" y="43616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Analytics — signups, search trends, usage stats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01184" y="47000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Database Viewer — inspect all platform data directly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Systems Working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verified from source code — all 6 are production-active on AWS EC2 Stockholm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896112"/>
            <a:ext cx="2798064" cy="1938528"/>
          </a:xfrm>
          <a:prstGeom prst="ROUNDED_RECTANGLE">
            <a:avLst>
              <a:gd name="adj" fmla="val 5660"/>
            </a:avLst>
          </a:prstGeom>
          <a:solidFill>
            <a:srgbClr val="0C2A4A"/>
          </a:solidFill>
          <a:ln w="10160">
            <a:solidFill>
              <a:srgbClr val="38BDF8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1508760" cy="347472"/>
          </a:xfrm>
          <a:prstGeom prst="ROUNDED_RECTANGLE">
            <a:avLst>
              <a:gd name="adj" fmla="val 42105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9384" y="10241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Auto-Updater Intelligence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2578608" cy="0"/>
          </a:xfrm>
          <a:prstGeom prst="LINE">
            <a:avLst/>
          </a:prstGeom>
          <a:noFill/>
          <a:ln w="635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7393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Google results via Serper API · Extracts deadline &amp; funding changes · Only publishes HIGH-confidence updates · Runs every 4 days automatically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2112" y="896112"/>
            <a:ext cx="2798064" cy="1938528"/>
          </a:xfrm>
          <a:prstGeom prst="ROUNDED_RECTANGLE">
            <a:avLst>
              <a:gd name="adj" fmla="val 5660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987552"/>
            <a:ext cx="1508760" cy="347472"/>
          </a:xfrm>
          <a:prstGeom prst="ROUNDED_RECTANGLE">
            <a:avLst>
              <a:gd name="adj" fmla="val 42105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9875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5464" y="10241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3716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+ SOP Writer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91840" y="1719072"/>
            <a:ext cx="2578608" cy="0"/>
          </a:xfrm>
          <a:prstGeom prst="LINE">
            <a:avLst/>
          </a:prstGeom>
          <a:noFill/>
          <a:ln w="635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77393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scholarship assistant · PDF &amp; image upload supported · tiktoken manages token context budget · Generates complete SOP essays on demand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08192" y="896112"/>
            <a:ext cx="2798064" cy="1938528"/>
          </a:xfrm>
          <a:prstGeom prst="ROUNDED_RECTANGLE">
            <a:avLst>
              <a:gd name="adj" fmla="val 5660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87552"/>
            <a:ext cx="1508760" cy="347472"/>
          </a:xfrm>
          <a:prstGeom prst="ROUNDED_RECTANGLE">
            <a:avLst>
              <a:gd name="adj" fmla="val 42105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9875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81544" y="10241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3716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Engine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1719072"/>
            <a:ext cx="2578608" cy="0"/>
          </a:xfrm>
          <a:prstGeom prst="LINE">
            <a:avLst/>
          </a:prstGeom>
          <a:noFill/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77393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sentence vectors loaded at server startup · L2-normalized cosine similarity · Zero API cost · Runs fully on-premise — no external calls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999232"/>
            <a:ext cx="2798064" cy="1938528"/>
          </a:xfrm>
          <a:prstGeom prst="ROUNDED_RECTANGLE">
            <a:avLst>
              <a:gd name="adj" fmla="val 5660"/>
            </a:avLst>
          </a:prstGeom>
          <a:solidFill>
            <a:srgbClr val="2A0F1A"/>
          </a:solidFill>
          <a:ln w="10160">
            <a:solidFill>
              <a:srgbClr val="F472B6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90672"/>
            <a:ext cx="1508760" cy="347472"/>
          </a:xfrm>
          <a:prstGeom prst="ROUNDED_RECTANGLE">
            <a:avLst>
              <a:gd name="adj" fmla="val 42105"/>
            </a:avLst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906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9384" y="3127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4747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Scholar Matcher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3822192"/>
            <a:ext cx="2578608" cy="0"/>
          </a:xfrm>
          <a:prstGeom prst="LINE">
            <a:avLst/>
          </a:prstGeom>
          <a:noFill/>
          <a:ln w="635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7705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Status: ML Active=True, Features=12 · 60% rule-based + 40% RF hybrid score · Retrained weekly every Sunday 2AM · Saved as scholar_match.pkl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82112" y="2999232"/>
            <a:ext cx="2798064" cy="1938528"/>
          </a:xfrm>
          <a:prstGeom prst="ROUNDED_RECTANGLE">
            <a:avLst>
              <a:gd name="adj" fmla="val 5660"/>
            </a:avLst>
          </a:prstGeom>
          <a:solidFill>
            <a:srgbClr val="1A1508"/>
          </a:solidFill>
          <a:ln w="10160">
            <a:solidFill>
              <a:srgbClr val="FBBF24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3090672"/>
            <a:ext cx="1508760" cy="347472"/>
          </a:xfrm>
          <a:prstGeom prst="ROUNDED_RECTANGLE">
            <a:avLst>
              <a:gd name="adj" fmla="val 42105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0906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API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55464" y="3127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Layer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34747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Intelligence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291840" y="3822192"/>
            <a:ext cx="2578608" cy="0"/>
          </a:xfrm>
          <a:prstGeom prst="LINE">
            <a:avLst/>
          </a:prstGeom>
          <a:noFill/>
          <a:ln w="635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87705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live Google snippets per scholarship · Top 5 results per query · Feeds fresh web data to GPT-4o Auto-Updater pipeline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08192" y="2999232"/>
            <a:ext cx="2798064" cy="1938528"/>
          </a:xfrm>
          <a:prstGeom prst="ROUNDED_RECTANGLE">
            <a:avLst>
              <a:gd name="adj" fmla="val 5660"/>
            </a:avLst>
          </a:prstGeom>
          <a:solidFill>
            <a:srgbClr val="0A1A1A"/>
          </a:solidFill>
          <a:ln w="10160">
            <a:solidFill>
              <a:srgbClr val="2DD4B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3090672"/>
            <a:ext cx="1508760" cy="347472"/>
          </a:xfrm>
          <a:prstGeom prst="ROUNDED_RECTANGLE">
            <a:avLst>
              <a:gd name="adj" fmla="val 42105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0906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TF-IDF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81544" y="31272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— no ML lib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34747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Cosine Recommender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217920" y="3822192"/>
            <a:ext cx="2578608" cy="0"/>
          </a:xfrm>
          <a:prstGeom prst="LINE">
            <a:avLst/>
          </a:prstGeom>
          <a:noFill/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87705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scratch: math.sqrt + Counter · Bag-of-words cosine similarity · Pathway logic: Bachelor→Master→PhD · Legacy text fallback layer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Auto-Updater: How Scholarships Stay Always Current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56032" y="804672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896112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8961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Scheduler Triggers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4 days at 4AM — fully automatic, no manual trigger needed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82112" y="804672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896112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85616" y="8961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Select Batch (6)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316736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6 scholarships per run — oldest-checked-first priority queue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08192" y="804672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896112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11696" y="8961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Serper API 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316736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fresh Google results per scholarship — top 5 snippets returned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194560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286000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GPT-4o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706624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old database record vs new web data — extracts changes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82112" y="2194560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2286000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25" name="Text 23"/>
          <p:cNvSpPr/>
          <p:nvPr/>
        </p:nvSpPr>
        <p:spPr>
          <a:xfrm>
            <a:off x="3273552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85616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Confidence Scoring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2706624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field (deadline/amount/status) — only HIGH confidence advances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8192" y="2194560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2286000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30" name="Text 28"/>
          <p:cNvSpPr/>
          <p:nvPr/>
        </p:nvSpPr>
        <p:spPr>
          <a:xfrm>
            <a:off x="6199632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11696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Staged Queue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2706624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placed in Admin Staged Review Queue — NOT auto-applied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584448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3675888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59536" y="3675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Admin Reviews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4096512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manually reviews every AI suggestion — approve or reject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82112" y="3584448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73552" y="3675888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40" name="Text 38"/>
          <p:cNvSpPr/>
          <p:nvPr/>
        </p:nvSpPr>
        <p:spPr>
          <a:xfrm>
            <a:off x="3273552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785616" y="3675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Goes LIVE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91840" y="4096512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changes instantly update the production database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08192" y="3584448"/>
            <a:ext cx="2798064" cy="1261872"/>
          </a:xfrm>
          <a:prstGeom prst="ROUNDED_RECTANGLE">
            <a:avLst>
              <a:gd name="adj" fmla="val 8696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99632" y="3675888"/>
            <a:ext cx="457200" cy="457200"/>
          </a:xfrm>
          <a:prstGeom prst="OVAL">
            <a:avLst/>
          </a:prstGeom>
          <a:solidFill>
            <a:srgbClr val="F4C44E"/>
          </a:solidFill>
          <a:ln/>
        </p:spPr>
      </p:sp>
      <p:sp>
        <p:nvSpPr>
          <p:cNvPr id="45" name="Text 43"/>
          <p:cNvSpPr/>
          <p:nvPr/>
        </p:nvSpPr>
        <p:spPr>
          <a:xfrm>
            <a:off x="6199632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711696" y="3675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Pipeline Report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17920" y="4096512"/>
            <a:ext cx="261518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log saved — timestamp, changes detected, confidence scores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4400" y="4828032"/>
            <a:ext cx="7315200" cy="310896"/>
          </a:xfrm>
          <a:prstGeom prst="ROUNDED_RECTANGLE">
            <a:avLst>
              <a:gd name="adj" fmla="val 44118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0" y="4828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Human-in-the-Loop — AI suggests, human approves. Bot NEVER writes directly to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Tools — Powered by GPT-4o-mini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68096"/>
            <a:ext cx="4160520" cy="4297680"/>
          </a:xfrm>
          <a:prstGeom prst="ROUNDED_RECTANGLE">
            <a:avLst>
              <a:gd name="adj" fmla="val 2637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5953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SOP Writer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07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Your Scholarship Essay Instantly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703320" cy="0"/>
          </a:xfrm>
          <a:prstGeom prst="LINE">
            <a:avLst/>
          </a:prstGeom>
          <a:noFill/>
          <a:ln w="635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19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Select target scholarship → profile auto-filled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Choose tone: Formal or Friendly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Choose word count: 300 to 800 words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2278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GPT-4o-mini generates complete SOP instantly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7307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Refine with natural language prompts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2336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Download and submit your essay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681728"/>
            <a:ext cx="3730752" cy="274320"/>
          </a:xfrm>
          <a:prstGeom prst="ROUNDED_RECTANGLE">
            <a:avLst>
              <a:gd name="adj" fmla="val 40000"/>
            </a:avLst>
          </a:prstGeom>
          <a:solidFill>
            <a:srgbClr val="1A4A2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68172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GPT-4o-mini · Context-aware · Token-managed via tiktoken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768096"/>
            <a:ext cx="4160520" cy="4297680"/>
          </a:xfrm>
          <a:prstGeom prst="ROUNDED_RECTANGLE">
            <a:avLst>
              <a:gd name="adj" fmla="val 2637"/>
            </a:avLst>
          </a:prstGeom>
          <a:solidFill>
            <a:srgbClr val="0C1A3A"/>
          </a:solidFill>
          <a:ln w="10160">
            <a:solidFill>
              <a:srgbClr val="6366F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85953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Chatbot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1307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Scholarship &amp; Study Assistant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1627632"/>
            <a:ext cx="3703320" cy="0"/>
          </a:xfrm>
          <a:prstGeom prst="LINE">
            <a:avLst/>
          </a:prstGeom>
          <a:noFill/>
          <a:ln w="635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19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Powered by GPT-4o-mini (cost-optimized)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2221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Upload PDF transcripts or research papers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2724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upload — analyze any document photo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2278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Personalized with student profile data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37307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Context-aware across full conversation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42336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tiktoken token management (gpt-4o-mini)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4681728"/>
            <a:ext cx="3730752" cy="274320"/>
          </a:xfrm>
          <a:prstGeom prst="ROUNDED_RECTANGLE">
            <a:avLst>
              <a:gd name="adj" fmla="val 40000"/>
            </a:avLst>
          </a:prstGeom>
          <a:solidFill>
            <a:srgbClr val="1A1A4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468172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GPT-4o-mini · tiktoken · pypdf · Image parsing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Admission Offer to Visa — We've Got It Covered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92608" y="822960"/>
            <a:ext cx="2798064" cy="4261104"/>
          </a:xfrm>
          <a:prstGeom prst="ROUNDED_RECTANGLE">
            <a:avLst>
              <a:gd name="adj" fmla="val 3922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914400"/>
            <a:ext cx="822960" cy="822960"/>
          </a:xfrm>
          <a:prstGeom prst="OVAL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84048" y="182880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4048" y="228600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Visa Profile 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2468880" cy="0"/>
          </a:xfrm>
          <a:prstGeom prst="LINE">
            <a:avLst/>
          </a:prstGeom>
          <a:noFill/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163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 country selection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Degree level: Bachelor / Master / PhD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Financial background info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0565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IELTS / TOEFL score input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3542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Previous visa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6976" y="822960"/>
            <a:ext cx="2798064" cy="4261104"/>
          </a:xfrm>
          <a:prstGeom prst="ROUNDED_RECTANGLE">
            <a:avLst>
              <a:gd name="adj" fmla="val 3922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4528" y="914400"/>
            <a:ext cx="822960" cy="822960"/>
          </a:xfrm>
          <a:prstGeom prst="OVAL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28416" y="182880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28416" y="228600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Checklist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01568" y="2724912"/>
            <a:ext cx="2468880" cy="0"/>
          </a:xfrm>
          <a:prstGeom prst="LINE">
            <a:avLst/>
          </a:prstGeom>
          <a:noFill/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8163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Personalized document list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1568" y="324612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Country-specific requirements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01568" y="36758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Ranked by priority &amp; urgency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01568" y="410565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University-specific rules detected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453542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Downloadable as PDF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81344" y="822960"/>
            <a:ext cx="2798064" cy="4261104"/>
          </a:xfrm>
          <a:prstGeom prst="ROUNDED_RECTANGLE">
            <a:avLst>
              <a:gd name="adj" fmla="val 3922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68896" y="914400"/>
            <a:ext cx="822960" cy="822960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7168896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72784" y="1828800"/>
            <a:ext cx="26151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272784" y="228600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Guide &amp; Consultants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45936" y="2724912"/>
            <a:ext cx="2468880" cy="0"/>
          </a:xfrm>
          <a:prstGeom prst="LINE">
            <a:avLst/>
          </a:prstGeom>
          <a:noFill/>
          <a:ln w="635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8163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life tips per country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24612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Cost of living breakdown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45936" y="36758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Cultural adaptation guide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45936" y="410565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Visa consultant directory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45936" y="453542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Find verified immigration advisors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Automated Emails — Every Step of the Journey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56032" y="804672"/>
            <a:ext cx="2084832" cy="2029968"/>
          </a:xfrm>
          <a:prstGeom prst="ROUNDED_RECTANGLE">
            <a:avLst>
              <a:gd name="adj" fmla="val 5405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9184" y="89611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13533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3192" y="1810512"/>
            <a:ext cx="1810512" cy="0"/>
          </a:xfrm>
          <a:prstGeom prst="LINE">
            <a:avLst/>
          </a:prstGeom>
          <a:noFill/>
          <a:ln w="508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865376"/>
            <a:ext cx="19019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 onboarding with complete platform walkthrough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2084832" cy="2029968"/>
          </a:xfrm>
          <a:prstGeom prst="ROUNDED_RECTANGLE">
            <a:avLst>
              <a:gd name="adj" fmla="val 5405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89611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3533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Approval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06040" y="1810512"/>
            <a:ext cx="1810512" cy="0"/>
          </a:xfrm>
          <a:prstGeom prst="LINE">
            <a:avLst/>
          </a:prstGeom>
          <a:noFill/>
          <a:ln w="508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865376"/>
            <a:ext cx="19019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+ dashboard link on admin approval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804672"/>
            <a:ext cx="2084832" cy="2029968"/>
          </a:xfrm>
          <a:prstGeom prst="ROUNDED_RECTANGLE">
            <a:avLst>
              <a:gd name="adj" fmla="val 5405"/>
            </a:avLst>
          </a:prstGeom>
          <a:solidFill>
            <a:srgbClr val="2A1010"/>
          </a:solidFill>
          <a:ln w="10160">
            <a:solidFill>
              <a:srgbClr val="FC818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89611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73168" y="13533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Rejection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18888" y="1810512"/>
            <a:ext cx="1810512" cy="0"/>
          </a:xfrm>
          <a:prstGeom prst="LINE">
            <a:avLst/>
          </a:prstGeom>
          <a:noFill/>
          <a:ln w="5080">
            <a:solidFill>
              <a:srgbClr val="FC818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865376"/>
            <a:ext cx="19019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reason + how to reapply instructions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94576" y="804672"/>
            <a:ext cx="2084832" cy="2029968"/>
          </a:xfrm>
          <a:prstGeom prst="ROUNDED_RECTANGLE">
            <a:avLst>
              <a:gd name="adj" fmla="val 5405"/>
            </a:avLst>
          </a:prstGeom>
          <a:solidFill>
            <a:srgbClr val="0A2018"/>
          </a:solidFill>
          <a:ln w="10160">
            <a:solidFill>
              <a:srgbClr val="6EE7B7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67728" y="89611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86016" y="135331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Confirmed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31736" y="1810512"/>
            <a:ext cx="1810512" cy="0"/>
          </a:xfrm>
          <a:prstGeom prst="LINE">
            <a:avLst/>
          </a:prstGeom>
          <a:noFill/>
          <a:ln w="5080">
            <a:solidFill>
              <a:srgbClr val="6EE7B7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1865376"/>
            <a:ext cx="19019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confirmed + course access unlocked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999232"/>
            <a:ext cx="2084832" cy="2029968"/>
          </a:xfrm>
          <a:prstGeom prst="ROUNDED_RECTANGLE">
            <a:avLst>
              <a:gd name="adj" fmla="val 5405"/>
            </a:avLst>
          </a:prstGeom>
          <a:solidFill>
            <a:srgbClr val="0A1A05"/>
          </a:solidFill>
          <a:ln w="10160">
            <a:solidFill>
              <a:srgbClr val="A3E63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" y="309067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7472" y="35478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Alert — 30 Days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3192" y="4005072"/>
            <a:ext cx="1810512" cy="0"/>
          </a:xfrm>
          <a:prstGeom prst="LINE">
            <a:avLst/>
          </a:prstGeom>
          <a:noFill/>
          <a:ln w="5080">
            <a:solidFill>
              <a:srgbClr val="A3E635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059936"/>
            <a:ext cx="19019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Auto-sent 30 days before scholarship deadline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2999232"/>
            <a:ext cx="2084832" cy="2029968"/>
          </a:xfrm>
          <a:prstGeom prst="ROUNDED_RECTANGLE">
            <a:avLst>
              <a:gd name="adj" fmla="val 5405"/>
            </a:avLst>
          </a:prstGeom>
          <a:solidFill>
            <a:srgbClr val="1A1A05"/>
          </a:solidFill>
          <a:ln w="10160">
            <a:solidFill>
              <a:srgbClr val="FACC1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42032" y="309067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560320" y="35478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Alert — 7 Days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606040" y="4005072"/>
            <a:ext cx="1810512" cy="0"/>
          </a:xfrm>
          <a:prstGeom prst="LINE">
            <a:avLst/>
          </a:prstGeom>
          <a:noFill/>
          <a:ln w="5080">
            <a:solidFill>
              <a:srgbClr val="FACC15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4059936"/>
            <a:ext cx="19019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week alert with direct application link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2999232"/>
            <a:ext cx="2084832" cy="2029968"/>
          </a:xfrm>
          <a:prstGeom prst="ROUNDED_RECTANGLE">
            <a:avLst>
              <a:gd name="adj" fmla="val 5405"/>
            </a:avLst>
          </a:prstGeom>
          <a:solidFill>
            <a:srgbClr val="1A0F05"/>
          </a:solidFill>
          <a:ln w="10160">
            <a:solidFill>
              <a:srgbClr val="FB923C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309067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773168" y="35478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Alert — 1 Day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18888" y="4005072"/>
            <a:ext cx="1810512" cy="0"/>
          </a:xfrm>
          <a:prstGeom prst="LINE">
            <a:avLst/>
          </a:prstGeom>
          <a:noFill/>
          <a:ln w="508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4059936"/>
            <a:ext cx="19019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chance alert — sent 1 day before closing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94576" y="2999232"/>
            <a:ext cx="2084832" cy="2029968"/>
          </a:xfrm>
          <a:prstGeom prst="ROUNDED_RECTANGLE">
            <a:avLst>
              <a:gd name="adj" fmla="val 5405"/>
            </a:avLst>
          </a:prstGeom>
          <a:solidFill>
            <a:srgbClr val="0C0C2A"/>
          </a:solidFill>
          <a:ln w="10160">
            <a:solidFill>
              <a:srgbClr val="818CF8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67728" y="3090672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986016" y="35478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31736" y="4005072"/>
            <a:ext cx="1810512" cy="0"/>
          </a:xfrm>
          <a:prstGeom prst="LINE">
            <a:avLst/>
          </a:prstGeom>
          <a:noFill/>
          <a:ln w="508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86016" y="4059936"/>
            <a:ext cx="19019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token link with 30-minute expiry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4400" y="4828032"/>
            <a:ext cx="7315200" cy="310896"/>
          </a:xfrm>
          <a:prstGeom prst="ROUNDED_RECTANGLE">
            <a:avLst>
              <a:gd name="adj" fmla="val 44118"/>
            </a:avLst>
          </a:prstGeom>
          <a:solidFill>
            <a:srgbClr val="0C0C2A"/>
          </a:solidFill>
          <a:ln w="10160">
            <a:solidFill>
              <a:srgbClr val="818CF8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14400" y="482803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Gmail SMTP · FastAPI-Mail · TLS Encrypted · JWT-Secured Password Reset Tokens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Scalable, Production-Ready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1168" y="804672"/>
            <a:ext cx="2103120" cy="4279392"/>
          </a:xfrm>
          <a:prstGeom prst="ROUNDED_RECTANGLE">
            <a:avLst>
              <a:gd name="adj" fmla="val 5217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37744" y="877824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" y="1664208"/>
            <a:ext cx="1883664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7373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React.js + TypeScript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0896" y="21305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(fast builds + HMR)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" y="252374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CSS Design System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0896" y="291693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Lucide + react-icons library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" y="331012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Sonner Toast Notifications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0896" y="370332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Router v6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" y="4096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Hosted on Vercel (Global CDN)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0896" y="448970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Auto-deploys from GitHub main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32304" y="804672"/>
            <a:ext cx="2103120" cy="4279392"/>
          </a:xfrm>
          <a:prstGeom prst="ROUNDED_RECTANGLE">
            <a:avLst>
              <a:gd name="adj" fmla="val 5217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877824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05456" y="1298448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42032" y="1664208"/>
            <a:ext cx="1883664" cy="0"/>
          </a:xfrm>
          <a:prstGeom prst="LINE">
            <a:avLst/>
          </a:prstGeom>
          <a:noFill/>
          <a:ln w="635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7373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FastAPI (async)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42032" y="21305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+ SQLAlchemy ORM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42032" y="252374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 — HS256 algorithm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42032" y="291693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FastAPI-Mail (SMTP/TLS)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42032" y="331012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Slowapi rate limiting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42032" y="370332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Passlib bcrypt password hashing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42032" y="4096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python-jose JWT library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42032" y="448970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Hosted: AWS EC2 Stockholm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804672"/>
            <a:ext cx="2103120" cy="4279392"/>
          </a:xfrm>
          <a:prstGeom prst="ROUNDED_RECTANGLE">
            <a:avLst>
              <a:gd name="adj" fmla="val 5217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0016" y="877824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736592" y="1298448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MODELS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73168" y="1664208"/>
            <a:ext cx="1883664" cy="0"/>
          </a:xfrm>
          <a:prstGeom prst="LINE">
            <a:avLst/>
          </a:prstGeom>
          <a:noFill/>
          <a:ln w="635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7373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GPT-4o → Auto-Updater pipeline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21305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GPT-4o-mini → Chatbot + SOP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73168" y="252374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MiniLM-L6-v2 → Semantic Search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291693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RandomForest → Scholar Matcher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331012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Serper API → Web Intelligence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3168" y="370332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TF-IDF → Text Recommender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73168" y="4096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tiktoken → Token management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448970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pypdf → PDF parsing support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94576" y="804672"/>
            <a:ext cx="2103120" cy="4279392"/>
          </a:xfrm>
          <a:prstGeom prst="ROUNDED_RECTANGLE">
            <a:avLst>
              <a:gd name="adj" fmla="val 5217"/>
            </a:avLst>
          </a:prstGeom>
          <a:solidFill>
            <a:srgbClr val="1A1508"/>
          </a:solidFill>
          <a:ln w="10160">
            <a:solidFill>
              <a:srgbClr val="FBBF24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31152" y="877824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967728" y="1298448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004304" y="1664208"/>
            <a:ext cx="1883664" cy="0"/>
          </a:xfrm>
          <a:prstGeom prst="LINE">
            <a:avLst/>
          </a:prstGeom>
          <a:noFill/>
          <a:ln w="635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04304" y="17373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EC2 — 24/7 live backend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04304" y="213055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Vercel — zero-config deployments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04304" y="252374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→ CI/CD auto-pipeline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004304" y="291693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file-based database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04304" y="331012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locked to production domain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04304" y="370332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APScheduler — 4 cron jobs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004304" y="40965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Nohup persistent background processes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004304" y="448970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Live: scholarship.broadsolutiontech.com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Secure From Day One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01168" y="804672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92608" y="8961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Token Auth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92608" y="128016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signed tokens with configurable expiry — no session storage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432304" y="804672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23744" y="8961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Role-Based Access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23744" y="128016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Teacher / Admin — 3 completely separate roles and routes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961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Protected Routes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users immediately redirected — zero data exposure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94576" y="804672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2A1010"/>
          </a:solidFill>
          <a:ln w="10160">
            <a:solidFill>
              <a:srgbClr val="FC818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86016" y="89611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Separate Admin Portal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86016" y="128016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login endpoint + admin-only middleware — fully isolated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2194560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0A2018"/>
          </a:solidFill>
          <a:ln w="10160">
            <a:solidFill>
              <a:srgbClr val="6EE7B7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" y="2286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Teacher Approval Gate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2608" y="2670048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unverified teacher goes live — admin must approve manually every time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32304" y="2194560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1A1A08"/>
          </a:solidFill>
          <a:ln w="10160">
            <a:solidFill>
              <a:srgbClr val="FACC15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23744" y="2286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Manual Payment Verify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23744" y="2670048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reviews screenshot proof before student gets course access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194560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0C0C2A"/>
          </a:solidFill>
          <a:ln w="10160">
            <a:solidFill>
              <a:srgbClr val="818CF8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286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Confidence Gate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2670048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only publishes HIGH confidence updates — hallucinations blocked from DB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94576" y="2194560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1A0808"/>
          </a:solidFill>
          <a:ln w="10160">
            <a:solidFill>
              <a:srgbClr val="F8717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86016" y="22860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Rate Limiting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86016" y="2670048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protects all endpoints — brute force and scraping attacks blocked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" y="3584448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1A0F05"/>
          </a:solidFill>
          <a:ln w="10160">
            <a:solidFill>
              <a:srgbClr val="FB923C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2608" y="367588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Heuristic Fraud Gate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92608" y="4059936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regex checks — scam keywords, insecure HTTP, fake domains auto-flagged for admin review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32304" y="3584448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0A1A1A"/>
          </a:solidFill>
          <a:ln w="10160">
            <a:solidFill>
              <a:srgbClr val="2DD4BF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23744" y="367588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CORS Locked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523744" y="4059936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for production domain only — cross-origin attacks prevented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584448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0C0C2A"/>
          </a:solidFill>
          <a:ln w="10160">
            <a:solidFill>
              <a:srgbClr val="818CF8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367588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Password Reset Tokens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54880" y="4059936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reset links with strict 30-minute expiry — secure email flow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94576" y="3584448"/>
            <a:ext cx="2084832" cy="1261872"/>
          </a:xfrm>
          <a:prstGeom prst="ROUNDED_RECTANGLE">
            <a:avLst>
              <a:gd name="adj" fmla="val 8696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86016" y="367588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AWS EC2 24/7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986016" y="4059936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server, no cold starts, nohup background — always online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Untapped Market in Pakistan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768096"/>
            <a:ext cx="2084832" cy="1719072"/>
          </a:xfrm>
          <a:prstGeom prst="ROUNDED_RECTANGLE">
            <a:avLst>
              <a:gd name="adj" fmla="val 6383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" y="84124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47472" y="1645920"/>
            <a:ext cx="1938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students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to study abroad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87168" y="768096"/>
            <a:ext cx="2084832" cy="1719072"/>
          </a:xfrm>
          <a:prstGeom prst="ROUNDED_RECTANGLE">
            <a:avLst>
              <a:gd name="adj" fmla="val 6383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84124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0" y="1645920"/>
            <a:ext cx="1938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scholarship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0016" y="768096"/>
            <a:ext cx="2084832" cy="1719072"/>
          </a:xfrm>
          <a:prstGeom prst="ROUNDED_RECTANGLE">
            <a:avLst>
              <a:gd name="adj" fmla="val 6383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84124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50B+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73168" y="1645920"/>
            <a:ext cx="1938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test prep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(annual)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12864" y="768096"/>
            <a:ext cx="2084832" cy="1719072"/>
          </a:xfrm>
          <a:prstGeom prst="ROUNDED_RECTANGLE">
            <a:avLst>
              <a:gd name="adj" fmla="val 6383"/>
            </a:avLst>
          </a:prstGeom>
          <a:solidFill>
            <a:srgbClr val="2A1010"/>
          </a:solidFill>
          <a:ln w="10160">
            <a:solidFill>
              <a:srgbClr val="FC8181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86016" y="841248"/>
            <a:ext cx="19385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86016" y="1645920"/>
            <a:ext cx="19385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Pakistan annual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8595360" cy="475488"/>
          </a:xfrm>
          <a:prstGeom prst="ROUNDED_RECTANGLE">
            <a:avLst>
              <a:gd name="adj" fmla="val 38462"/>
            </a:avLst>
          </a:prstGeom>
          <a:solidFill>
            <a:srgbClr val="0A1A0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615184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NO dominant AI scholarship platform exists in Pakistan today — ScholarIQ is the FIRST MOVER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3246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2798064" cy="1389888"/>
          </a:xfrm>
          <a:prstGeom prst="ROUNDED_RECTANGLE">
            <a:avLst>
              <a:gd name="adj" fmla="val 7895"/>
            </a:avLst>
          </a:prstGeom>
          <a:solidFill>
            <a:srgbClr val="0C2040"/>
          </a:solidFill>
          <a:ln w="10160">
            <a:solidFill>
              <a:srgbClr val="60A5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7856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Students (18-30 years)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41879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international scholarships &amp; IELTS/GRE/TOEFL prep from expert tutors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3703320"/>
            <a:ext cx="2798064" cy="1389888"/>
          </a:xfrm>
          <a:prstGeom prst="ROUNDED_RECTANGLE">
            <a:avLst>
              <a:gd name="adj" fmla="val 7895"/>
            </a:avLst>
          </a:prstGeom>
          <a:solidFill>
            <a:srgbClr val="0D2318"/>
          </a:solidFill>
          <a:ln w="10160">
            <a:solidFill>
              <a:srgbClr val="34D399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7856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Expert Tutors &amp; Teachers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41879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Wanting to monetize subject expertise online and earn directly in PKR with zero middlemen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3703320"/>
            <a:ext cx="2798064" cy="1389888"/>
          </a:xfrm>
          <a:prstGeom prst="ROUNDED_RECTANGLE">
            <a:avLst>
              <a:gd name="adj" fmla="val 7895"/>
            </a:avLst>
          </a:prstGeom>
          <a:solidFill>
            <a:srgbClr val="1A0F35"/>
          </a:solidFill>
          <a:ln w="1016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27648" y="37856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Pakistani Families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27648" y="418795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trusted, affordable guidance for children pursuing international higher education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OVAL">
            <a:avLst/>
          </a:prstGeom>
          <a:solidFill>
            <a:srgbClr val="1E3A8A">
              <a:alpha val="28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OVAL">
            <a:avLst/>
          </a:prstGeom>
          <a:solidFill>
            <a:srgbClr val="312E81">
              <a:alpha val="22000"/>
            </a:srgbClr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77640" y="201168"/>
            <a:ext cx="1188720" cy="1188720"/>
          </a:xfrm>
          <a:prstGeom prst="ROUNDED_RECTANGLE">
            <a:avLst>
              <a:gd name="adj" fmla="val 15385"/>
            </a:avLst>
          </a:prstGeom>
          <a:solidFill>
            <a:srgbClr val="1E3A8A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77640" y="219456"/>
            <a:ext cx="1188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🎓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</a:t>
            </a:r>
            <a:pPr algn="ctr" indent="0" marL="0">
              <a:buNone/>
            </a:pPr>
            <a:r>
              <a:rPr lang="en-US" sz="68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25054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Pakistani Students to Reach the World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0" y="3035808"/>
            <a:ext cx="4572000" cy="0"/>
          </a:xfrm>
          <a:prstGeom prst="LINE">
            <a:avLst/>
          </a:prstGeom>
          <a:noFill/>
          <a:ln w="19050">
            <a:solidFill>
              <a:srgbClr val="F4C4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455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Platform: scholarship.broadsolutiontech.com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6393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Systems: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3639312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363931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27248" y="3639312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27248" y="363931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34256" y="3639312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34256" y="363931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41264" y="3639312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41264" y="363931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48272" y="3639312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48272" y="363931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API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955280" y="3639312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363931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4023360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20240" y="402336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27248" y="4023360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127248" y="402336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34256" y="4023360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34256" y="402336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541264" y="4023360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41264" y="402336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48272" y="4023360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48272" y="402336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CDN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955280" y="4023360"/>
            <a:ext cx="1115568" cy="292608"/>
          </a:xfrm>
          <a:prstGeom prst="ROUNDED_RECTANGLE">
            <a:avLst>
              <a:gd name="adj" fmla="val 43750"/>
            </a:avLst>
          </a:prstGeom>
          <a:solidFill>
            <a:srgbClr val="1E293B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55280" y="402336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8640" y="4462272"/>
            <a:ext cx="8046720" cy="530352"/>
          </a:xfrm>
          <a:prstGeom prst="ROUNDED_RECTANGLE">
            <a:avLst>
              <a:gd name="adj" fmla="val 43103"/>
            </a:avLst>
          </a:prstGeom>
          <a:solidFill>
            <a:srgbClr val="1E293B"/>
          </a:solidFill>
          <a:ln w="10160">
            <a:solidFill>
              <a:srgbClr val="F4C44E">
                <a:alpha val="6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46227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4C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Platform.  Three Portals.  Six AI Systems.  Infinite Opportunities."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2026-07-01T14:14:49Z</dcterms:created>
  <dcterms:modified xsi:type="dcterms:W3CDTF">2026-07-01T14:14:49Z</dcterms:modified>
</cp:coreProperties>
</file>